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Slide 1 — Reproduction of MRMR Baseline (GME-Qwen2-VL-7B)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Dataset: MRMR Knowledge subtask (ICLR 2026)</a:t>
            </a:r>
          </a:p>
          <a:p>
            <a:pPr>
              <a:defRPr sz="1600" b="0"/>
            </a:pPr>
            <a:r>
              <a:t>  • 555 queries, 26,223 corpus docs</a:t>
            </a:r>
          </a:p>
          <a:p>
            <a:pPr>
              <a:defRPr sz="1600" b="0"/>
            </a:pPr>
            <a:r>
              <a:t>  • 4 coarse domains: Art / Humanities / Medicine / Science</a:t>
            </a:r>
          </a:p>
          <a:p>
            <a:pPr>
              <a:defRPr sz="1600" b="0"/>
            </a:pPr>
            <a:r>
              <a:t>Encoder: GME-Qwen2-VL-7B-Instruct (3584-dim, L2-normalized)</a:t>
            </a:r>
          </a:p>
          <a:p>
            <a:pPr>
              <a:defRPr sz="1600" b="0"/>
            </a:pPr>
            <a:r>
              <a:t>Metric: nDCG@10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Result — matches paper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8768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lang="zh-CN" altLang="en-US"/>
                        <a:t>复现</a:t>
                      </a:r>
                      <a:r>
                        <a:rPr lang="zh-CN" altLang="en-US"/>
                        <a:t>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MRMR paper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47.0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46.7</a:t>
                      </a:r>
                      <a:endParaRPr lang="en-US" altLang="zh-CN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52.0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54.3</a:t>
                      </a:r>
                      <a:endParaRPr lang="en-US" altLang="zh-CN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Humanities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40.7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45.6</a:t>
                      </a:r>
                      <a:endParaRPr lang="en-US" altLang="zh-CN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42.1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40.1</a:t>
                      </a:r>
                      <a:endParaRPr lang="en-US" altLang="zh-CN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51.7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altLang="zh-CN"/>
                        <a:t>46.8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Conclusion: overall nDCG@10 reproduces the paper's reported number → baseline pipeline is correct.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Slide 2 — Bad Case Analysis: Three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/>
            </a:pPr>
            <a:r>
              <a:t>162 / 555 queries have nDCG@10 = 0 (29%). Diagnosed via sentence-level similarity: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A. Dilution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Gold doc contains a sentence that matches the query well,</a:t>
            </a:r>
          </a:p>
          <a:p>
            <a:pPr>
              <a:defRPr sz="1400" b="0"/>
            </a:pPr>
            <a:r>
              <a:t>but whole-doc pooling drowns the signal.</a:t>
            </a:r>
          </a:p>
          <a:p>
            <a:pPr>
              <a:defRPr sz="1400" b="0"/>
            </a:pPr>
            <a:r>
              <a:t>→ proposition-level retrieval should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B. Misalignment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No sentence in the gold doc aligns with the query</a:t>
            </a:r>
          </a:p>
          <a:p>
            <a:pPr>
              <a:defRPr sz="1400" b="0"/>
            </a:pPr>
            <a:r>
              <a:t>semantically / lexically.</a:t>
            </a:r>
          </a:p>
          <a:p>
            <a:pPr>
              <a:defRPr sz="1400" b="0"/>
            </a:pPr>
            <a:r>
              <a:t>→ query rewrite / HyDE territory.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C.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Best gold sentence has very low absolute similarity</a:t>
            </a:r>
          </a:p>
          <a:p>
            <a:pPr>
              <a:defRPr sz="1400" b="0"/>
            </a:pPr>
            <a:r>
              <a:t>to the query (&lt; 0.35).</a:t>
            </a:r>
          </a:p>
          <a:p>
            <a:pPr>
              <a:defRPr sz="1400" b="0"/>
            </a:pPr>
            <a:r>
              <a:t>→ qrel label likely noisy.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What we are doing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t>1. Running full 162-query dilution diagnosis to confirm A/B/C split.</a:t>
            </a:r>
          </a:p>
          <a:p>
            <a:pPr>
              <a:defRPr sz="1400" b="0"/>
            </a:pPr>
            <a:r>
              <a:t>2. Designing per-domain remedy: proposition-level retrieval for A, query rewrite for 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" y="0"/>
            <a:ext cx="6846570" cy="26409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66635" y="80010"/>
            <a:ext cx="34601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GOLD</a:t>
            </a:r>
            <a:endParaRPr lang="zh-CN" altLang="en-US" sz="900"/>
          </a:p>
          <a:p>
            <a:r>
              <a:rPr lang="zh-CN" altLang="en-US" sz="900"/>
              <a:t>白粉病（</a:t>
            </a:r>
            <a:r>
              <a:rPr lang="en-US" altLang="zh-CN" sz="900"/>
              <a:t>Odium indicum, Odium caricae）</a:t>
            </a:r>
            <a:endParaRPr lang="en-US" altLang="zh-CN" sz="900"/>
          </a:p>
          <a:p>
            <a:r>
              <a:rPr lang="zh-CN" altLang="en-US" sz="900"/>
              <a:t>番木瓜白粉病在高湿度（80-85%）和24-26°</a:t>
            </a:r>
            <a:r>
              <a:rPr lang="en-US" altLang="zh-CN" sz="900"/>
              <a:t>C</a:t>
            </a:r>
            <a:r>
              <a:rPr lang="zh-CN" altLang="en-US" sz="900"/>
              <a:t>的温度范围内容易发生。该病害表现在叶片和果荚上。感染初期，叶片上出现略微变暗的小斑点，随后变为白色粉状斑点。这些斑点逐渐扩大，最终覆盖整个叶面。严重感染的叶片可能出现黄化和变形，最终脱落。受害果实体积偏小且畸形。</a:t>
            </a:r>
            <a:endParaRPr lang="zh-CN" altLang="en-US" sz="900"/>
          </a:p>
          <a:p>
            <a:r>
              <a:rPr lang="zh-CN" altLang="en-US" sz="900"/>
              <a:t>防治方法： 一旦发现病害症状，可喷施硫磺粉（30克/10升水）或喷洒三唑酮（</a:t>
            </a:r>
            <a:r>
              <a:rPr lang="en-US" altLang="zh-CN" sz="900"/>
              <a:t>Calixin 75 EC，5</a:t>
            </a:r>
            <a:r>
              <a:rPr lang="zh-CN" altLang="en-US" sz="900"/>
              <a:t>毫升/10升水），每隔15天施用一次，可有效控制病害。</a:t>
            </a:r>
            <a:endParaRPr lang="zh-CN" altLang="en-US" sz="900"/>
          </a:p>
          <a:p>
            <a:r>
              <a:rPr lang="zh-CN" altLang="en-US" sz="900"/>
              <a:t>叶枯病（</a:t>
            </a:r>
            <a:r>
              <a:rPr lang="en-US" altLang="zh-CN" sz="900"/>
              <a:t>Corynespora cassiicola）</a:t>
            </a:r>
            <a:endParaRPr lang="en-US" altLang="zh-CN" sz="900"/>
          </a:p>
          <a:p>
            <a:r>
              <a:rPr lang="zh-CN" altLang="en-US" sz="900"/>
              <a:t>该病害对叶片造成严重损害。初期表现为叶片上散布的细小变色病斑，分布不规则。这些斑点逐渐变为不规则形状并扩大，呈褐色至灰色。斑点周围有淡黄色晕圈。多个病斑可相互融合，覆盖大面积叶片，严重感染时整片叶子枯死，导致产量大幅下降。</a:t>
            </a:r>
            <a:endParaRPr lang="zh-CN" altLang="en-US" sz="900"/>
          </a:p>
          <a:p>
            <a:r>
              <a:rPr lang="zh-CN" altLang="en-US" sz="900"/>
              <a:t>防治方法： 可在病害症状出现初期喷施代森锰锌（</a:t>
            </a:r>
            <a:r>
              <a:rPr lang="en-US" altLang="zh-CN" sz="900"/>
              <a:t>Dithane M-45，0.2%</a:t>
            </a:r>
            <a:r>
              <a:rPr lang="zh-CN" altLang="en-US" sz="900"/>
              <a:t>浓度）进行防治。</a:t>
            </a:r>
            <a:endParaRPr lang="zh-CN" altLang="en-US" sz="900"/>
          </a:p>
          <a:p>
            <a:r>
              <a:rPr lang="zh-CN" altLang="en-US" sz="900"/>
              <a:t>猝倒病（</a:t>
            </a:r>
            <a:r>
              <a:rPr lang="en-US" altLang="zh-CN" sz="900"/>
              <a:t>Rhizoctonia solani）</a:t>
            </a:r>
            <a:endParaRPr lang="en-US" altLang="zh-CN" sz="900"/>
          </a:p>
          <a:p>
            <a:r>
              <a:rPr lang="zh-CN" altLang="en-US" sz="900"/>
              <a:t>这是一种幼苗期病害。病斑出现在茎基部或略高于土面的位置。茎部变得水渍状并萎缩，最终导致植株死亡。</a:t>
            </a:r>
            <a:endParaRPr lang="zh-CN" altLang="en-US" sz="900"/>
          </a:p>
          <a:p>
            <a:r>
              <a:rPr lang="zh-CN" altLang="en-US" sz="900"/>
              <a:t>防治方法： 育苗应选用排水良好的土壤，避免过度灌溉。播种前，种子应使用木霉菌（</a:t>
            </a:r>
            <a:r>
              <a:rPr lang="en-US" altLang="zh-CN" sz="900"/>
              <a:t>Trichoderma viride）</a:t>
            </a:r>
            <a:r>
              <a:rPr lang="zh-CN" altLang="en-US" sz="900"/>
              <a:t>生物制剂（3-4克/公斤种子）或克菌丹（</a:t>
            </a:r>
            <a:r>
              <a:rPr lang="en-US" altLang="zh-CN" sz="900"/>
              <a:t>Captan，3</a:t>
            </a:r>
            <a:r>
              <a:rPr lang="zh-CN" altLang="en-US" sz="900"/>
              <a:t>克/公斤种子）进行拌种处理，以保护新出土的幼苗。</a:t>
            </a:r>
            <a:endParaRPr lang="zh-CN" altLang="en-US" sz="9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" y="3329940"/>
            <a:ext cx="5446395" cy="3331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79820" y="4348480"/>
            <a:ext cx="528891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症状</a:t>
            </a:r>
            <a:endParaRPr lang="zh-CN" altLang="en-US" sz="1000"/>
          </a:p>
          <a:p>
            <a:r>
              <a:rPr lang="zh-CN" altLang="en-US" sz="1000"/>
              <a:t>嫩梢、花蕾以及部分情况下的果实上会出现细小、分散的白色至浅黄色斑块，由大量被称为菌丝的丝状结构组成（图1）。这些斑块通常最先出现在叶片上表面或嫩梢顶端。最终，整片叶子、枝梢或花蕾的表面都可能被白粉病真菌棉絮状的丝状菌体所覆盖，并可能伴随叶片变色或成熟叶片过早脱落。</a:t>
            </a:r>
            <a:endParaRPr lang="zh-CN" altLang="en-US" sz="1000"/>
          </a:p>
          <a:p>
            <a:r>
              <a:rPr lang="zh-CN" altLang="en-US" sz="1000"/>
              <a:t>在室外栽培的植物叶片上，有时可见到细小的深褐色至黑色、胡椒籽大小的球状体，即真菌的子实体。这些结构被称为闭囊壳，在温室栽培的植物上很少出现。</a:t>
            </a:r>
            <a:endParaRPr lang="zh-CN" altLang="en-US" sz="1000"/>
          </a:p>
          <a:p>
            <a:r>
              <a:rPr lang="zh-CN" altLang="en-US" sz="1000"/>
              <a:t>白粉病真菌通常侵染幼嫩的叶片、枝梢、花朵、花蕾和果实，偶尔也会在成熟叶片上定殖。白粉病菌丝生长的斑块处有时会伴随叶片变色斑。在严重受害的植物上，常见叶片扭曲、黄化、卷曲、提早落叶以及植株生长缓慢或矮化等症状（图2）。在紫薇上，染病的嫩梢顶端可能枯萎死亡。正在发育的花蕾受害后，可严重降低花卉的品质和观赏效果（图3）。反复严重的白粉病感染，尤其是对某些花卉、小型灌木和树木幼苗，可能导致植株健康状况逐渐衰退，但对已成型的大树几乎不造成明显损害。</a:t>
            </a:r>
            <a:endParaRPr lang="zh-CN" altLang="en-US" sz="1000"/>
          </a:p>
          <a:p>
            <a:r>
              <a:rPr lang="zh-CN" altLang="en-US" sz="1000"/>
              <a:t>图2. 紫薇上白粉病引起的花蕾定殖及随后的花蕾败育。</a:t>
            </a:r>
            <a:endParaRPr lang="zh-CN" altLang="en-US" sz="1000"/>
          </a:p>
          <a:p>
            <a:r>
              <a:rPr lang="zh-CN" altLang="en-US" sz="1000"/>
              <a:t>图3. 大叶绣球花"</a:t>
            </a:r>
            <a:r>
              <a:rPr lang="en-US" altLang="zh-CN" sz="1000"/>
              <a:t>Nikko Blue"</a:t>
            </a:r>
            <a:r>
              <a:rPr lang="zh-CN" altLang="en-US" sz="1000"/>
              <a:t>品种叶片上因白粉病大量定殖而导致的严重叶片变色。</a:t>
            </a:r>
            <a:endParaRPr lang="zh-CN" alt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-39370"/>
            <a:ext cx="7204710" cy="28003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03920" y="436880"/>
            <a:ext cx="3318510" cy="2060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一名45岁男性主诉近2天来持续剧烈头痛。体格检查发现右侧视乳头水肿。随后患者意识逐渐模糊。该患者一种并发症的大体病理表现如图所示。以下哪种情况最可能产生图中所示的大体病理改变？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991475" y="3423920"/>
            <a:ext cx="3912235" cy="264223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zh-CN" altLang="en-US" sz="1200" b="1"/>
              <a:t>胶质母细胞瘤的症状</a:t>
            </a:r>
            <a:endParaRPr lang="zh-CN" altLang="en-US" sz="1200" b="1"/>
          </a:p>
          <a:p>
            <a:r>
              <a:rPr lang="zh-CN" altLang="en-US" sz="1200"/>
              <a:t>胶质母细胞瘤的症状可能包括：</a:t>
            </a:r>
            <a:endParaRPr lang="zh-CN" altLang="en-US" sz="1200"/>
          </a:p>
          <a:p>
            <a:pPr>
              <a:buFont typeface="Arial" panose="020B0604020202020204"/>
              <a:buChar char="•"/>
            </a:pPr>
            <a:r>
              <a:rPr lang="zh-CN" altLang="en-US" sz="1200"/>
              <a:t>视物模糊或复视： 当你无法清晰地看到事物时，很可能出现了视物模糊。视物模糊意味着你的视力不够清晰锐利。有时眯眼可以使物体变得清楚。通常，视物模糊会随时间推移逐渐加重。某些疾病会导致视力突然变得模糊。</a:t>
            </a:r>
            <a:endParaRPr lang="zh-CN" altLang="en-US" sz="1200"/>
          </a:p>
          <a:p>
            <a:pPr>
              <a:buFont typeface="Arial" panose="020B0604020202020204"/>
              <a:buChar char="•"/>
            </a:pPr>
            <a:r>
              <a:rPr lang="zh-CN" altLang="en-US" sz="1200"/>
              <a:t>头痛： 头痛是头部或面部的疼痛，常被描述为搏动性、持续性、锐痛或钝痛的压迫感。头痛在疼痛类型、严重程度、部位和发作频率方面差异很大。</a:t>
            </a:r>
            <a:endParaRPr lang="zh-CN" altLang="en-US" sz="1200"/>
          </a:p>
          <a:p>
            <a:pPr>
              <a:buFont typeface="Arial" panose="020B0604020202020204"/>
              <a:buChar char="•"/>
            </a:pPr>
            <a:r>
              <a:rPr lang="zh-CN" altLang="en-US" sz="1200"/>
              <a:t>情绪或性格改变： 情绪波动是指情绪的突然变化，由脑内化学物质水平的改变所引起。</a:t>
            </a:r>
            <a:endParaRPr lang="zh-CN" altLang="en-US" sz="1200"/>
          </a:p>
          <a:p>
            <a:r>
              <a:rPr lang="zh-CN" altLang="en-US" sz="1200"/>
              <a:t>胶质母细胞瘤的症状往往出现较快。不断增大的肿瘤对脑组织产生压迫，并可破坏正常的脑组织。</a:t>
            </a:r>
            <a:endParaRPr lang="zh-CN" altLang="en-US" sz="12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3364865"/>
            <a:ext cx="7152640" cy="27597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821238" y="431863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图中所示为肺癌的脑转移灶。转移灶最常出现在灰质与白质交界处，位于大脑中动脉供血区域，正如本例所示，因为该区域的血流分布（血管分布）最容易将转移瘤带到此处。多发性肿瘤灶提示为转移性恶性肿瘤，而非原发性恶性肿瘤。</a:t>
            </a:r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5" y="1495425"/>
            <a:ext cx="10116185" cy="2209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2746</Words>
  <Application>WPS 演示</Application>
  <PresentationFormat>On-screen Show (4:3)</PresentationFormat>
  <Paragraphs>106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-apple-system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1123</cp:lastModifiedBy>
  <cp:revision>5</cp:revision>
  <dcterms:created xsi:type="dcterms:W3CDTF">2013-01-27T09:14:00Z</dcterms:created>
  <dcterms:modified xsi:type="dcterms:W3CDTF">2026-04-15T06:48:39Z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18D32F27553E4D1189E8CCCCBB0EAC7F_12</vt:lpwstr>
  </property>
</Properties>
</file>